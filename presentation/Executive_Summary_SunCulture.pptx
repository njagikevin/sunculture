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20"/>
    <p:restoredTop sz="94622"/>
  </p:normalViewPr>
  <p:slideViewPr>
    <p:cSldViewPr snapToGrid="0" snapToObjects="1">
      <p:cViewPr varScale="1">
        <p:scale>
          <a:sx n="125" d="100"/>
          <a:sy n="125" d="100"/>
        </p:scale>
        <p:origin x="168" y="25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5E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A5D6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400" b="1">
                <a:solidFill>
                  <a:srgbClr val="FFFFFF"/>
                </a:solidFill>
                <a:latin typeface="Calibri"/>
              </a:defRPr>
            </a:pPr>
            <a:r>
              <a:t>SunCulture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0">
                <a:solidFill>
                  <a:srgbClr val="A5D6A7"/>
                </a:solidFill>
                <a:latin typeface="Calibri"/>
              </a:defRPr>
            </a:pPr>
            <a:r>
              <a:t>Quarterly Business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840480"/>
            <a:ext cx="103628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C8E6C9"/>
                </a:solidFill>
                <a:latin typeface="Calibri"/>
              </a:defRPr>
            </a:pPr>
            <a:r>
              <a:t>Data-Driven Insights for Strategic Decision-Making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029200"/>
            <a:ext cx="1036289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1C784"/>
                </a:solidFill>
                <a:latin typeface="Calibri"/>
              </a:defRPr>
            </a:pPr>
            <a:r>
              <a:rPr dirty="0"/>
              <a:t>Senior Data Scientist Assessment  |  </a:t>
            </a:r>
            <a:r>
              <a:rPr lang="en-US" dirty="0"/>
              <a:t>Kevin Kamau </a:t>
            </a:r>
            <a:r>
              <a:rPr lang="en-US" dirty="0" err="1"/>
              <a:t>Njagi</a:t>
            </a:r>
            <a:r>
              <a:rPr lang="en-US" dirty="0"/>
              <a:t> | </a:t>
            </a:r>
            <a:r>
              <a:rPr dirty="0"/>
              <a:t>May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Customer Payment Health Overview</a:t>
            </a:r>
          </a:p>
        </p:txBody>
      </p:sp>
      <p:pic>
        <p:nvPicPr>
          <p:cNvPr id="4" name="Picture 3" descr="stat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05840"/>
            <a:ext cx="11277295" cy="36576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457200" y="4846320"/>
            <a:ext cx="11277295" cy="173736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4937760"/>
            <a:ext cx="109728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B5E20"/>
                </a:solidFill>
                <a:latin typeface="Calibri"/>
              </a:defRPr>
            </a:pPr>
            <a:r>
              <a:t>Key Insights</a:t>
            </a:r>
          </a:p>
          <a:p>
            <a:pPr algn="l">
              <a:spcBef>
                <a:spcPts val="400"/>
              </a:spcBef>
              <a:defRPr sz="1200" b="0">
                <a:solidFill>
                  <a:srgbClr val="333333"/>
                </a:solidFill>
                <a:latin typeface="Calibri"/>
              </a:defRPr>
            </a:pPr>
            <a:r>
              <a:t>Only 12.6% of customers have fully completed payment (600 accounts). Another 11.8% are paid ahead (Advance).</a:t>
            </a:r>
          </a:p>
          <a:p>
            <a:pPr algn="l">
              <a:spcBef>
                <a:spcPts val="200"/>
              </a:spcBef>
              <a:defRPr sz="1200" b="0">
                <a:solidFill>
                  <a:srgbClr val="666666"/>
                </a:solidFill>
                <a:latin typeface="Calibri"/>
              </a:defRPr>
            </a:pPr>
            <a:r>
              <a:t>36.8% are in arrears, repossession, or repossessed — 1,748 accounts requiring immediate attention.</a:t>
            </a:r>
          </a:p>
          <a:p>
            <a:pPr algn="l">
              <a:spcBef>
                <a:spcPts val="200"/>
              </a:spcBef>
              <a:defRPr sz="1200" b="0">
                <a:solidFill>
                  <a:srgbClr val="666666"/>
                </a:solidFill>
                <a:latin typeface="Calibri"/>
              </a:defRPr>
            </a:pPr>
            <a:r>
              <a:t>13.6% (644 accounts) are Write-Offs — uncollectable. Root-cause analysis recommended.</a:t>
            </a:r>
          </a:p>
          <a:p>
            <a:pPr algn="l">
              <a:spcBef>
                <a:spcPts val="400"/>
              </a:spcBef>
              <a:defRPr sz="1200" b="1">
                <a:solidFill>
                  <a:srgbClr val="D32F2F"/>
                </a:solidFill>
                <a:latin typeface="Calibri"/>
              </a:defRPr>
            </a:pPr>
            <a:r>
              <a:t>Action: Prioritise collections on 582 Arrears accounts; investigate Write-Off drivers.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Regional Performance &amp; Risk Disparities</a:t>
            </a:r>
          </a:p>
        </p:txBody>
      </p:sp>
      <p:pic>
        <p:nvPicPr>
          <p:cNvPr id="4" name="Picture 3" descr="region_stat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05840"/>
            <a:ext cx="11277295" cy="347472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457200" y="4754880"/>
            <a:ext cx="11277295" cy="182880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4846320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B5E20"/>
                </a:solidFill>
                <a:latin typeface="Calibri"/>
              </a:defRPr>
            </a:pPr>
            <a:r>
              <a:t>Key Insights</a:t>
            </a:r>
          </a:p>
          <a:p>
            <a:pPr algn="l">
              <a:spcBef>
                <a:spcPts val="400"/>
              </a:spcBef>
              <a:defRPr sz="1200" b="0">
                <a:solidFill>
                  <a:srgbClr val="333333"/>
                </a:solidFill>
                <a:latin typeface="Calibri"/>
              </a:defRPr>
            </a:pPr>
            <a:r>
              <a:t>Kenya has the highest Write-Off rate (14.1%) and Repossed rate (13.0%) despite the lowest Arrears (11.4% vs 12.3% avg) — suggesting accounts may skip arrears and go straight to bad debt.</a:t>
            </a:r>
          </a:p>
          <a:p>
            <a:pPr algn="l">
              <a:spcBef>
                <a:spcPts val="200"/>
              </a:spcBef>
              <a:defRPr sz="1200" b="0">
                <a:solidFill>
                  <a:srgbClr val="666666"/>
                </a:solidFill>
                <a:latin typeface="Calibri"/>
              </a:defRPr>
            </a:pPr>
            <a:r>
              <a:t>Côte d'Ivoire over-indexes on Repossession (13.2%, highest of any region) with 13.9% Write-Offs. Uganda is the most balanced, near-average across all statuses.</a:t>
            </a:r>
          </a:p>
          <a:p>
            <a:pPr algn="l">
              <a:spcBef>
                <a:spcPts val="200"/>
              </a:spcBef>
              <a:defRPr sz="1200" b="0">
                <a:solidFill>
                  <a:srgbClr val="666666"/>
                </a:solidFill>
                <a:latin typeface="Calibri"/>
              </a:defRPr>
            </a:pPr>
            <a:r>
              <a:t>Customer base is nearly evenly split: 33.9% CIV, 33.3% Uganda, 32.8% Kenya.</a:t>
            </a:r>
          </a:p>
          <a:p>
            <a:pPr algn="l">
              <a:spcBef>
                <a:spcPts val="400"/>
              </a:spcBef>
              <a:defRPr sz="1200" b="1">
                <a:solidFill>
                  <a:srgbClr val="D32F2F"/>
                </a:solidFill>
                <a:latin typeface="Calibri"/>
              </a:defRPr>
            </a:pPr>
            <a:r>
              <a:t>Action: Investigate Kenya's direct-to-bad-debt pattern; deploy day-15 early intervention in CIV.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Product-Level Risk &amp; Credit Loss Drivers</a:t>
            </a:r>
          </a:p>
        </p:txBody>
      </p:sp>
      <p:pic>
        <p:nvPicPr>
          <p:cNvPr id="4" name="Picture 3" descr="product_ris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05840"/>
            <a:ext cx="11277295" cy="347472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457200" y="4754880"/>
            <a:ext cx="11277295" cy="182880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4846320"/>
            <a:ext cx="10972800" cy="12311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B5E20"/>
                </a:solidFill>
                <a:latin typeface="Calibri"/>
              </a:defRPr>
            </a:pPr>
            <a:r>
              <a:rPr dirty="0"/>
              <a:t>Key Insights</a:t>
            </a:r>
          </a:p>
          <a:p>
            <a:pPr algn="l">
              <a:spcBef>
                <a:spcPts val="400"/>
              </a:spcBef>
              <a:defRPr sz="1200" b="0">
                <a:solidFill>
                  <a:srgbClr val="333333"/>
                </a:solidFill>
                <a:latin typeface="Calibri"/>
              </a:defRPr>
            </a:pPr>
            <a:r>
              <a:rPr dirty="0"/>
              <a:t>Highest write-off rates: Water Pumps (15.3%), Smartphones (14.9%), Tablets (14.7%).</a:t>
            </a:r>
          </a:p>
          <a:p>
            <a:pPr algn="l">
              <a:spcBef>
                <a:spcPts val="200"/>
              </a:spcBef>
              <a:defRPr sz="1200" b="0">
                <a:solidFill>
                  <a:srgbClr val="666666"/>
                </a:solidFill>
                <a:latin typeface="Calibri"/>
              </a:defRPr>
            </a:pPr>
            <a:r>
              <a:rPr dirty="0"/>
              <a:t>PAYG accounts show 13.3% arrears vs. 11.2% for Cash — a 1.19× risk multiple.</a:t>
            </a:r>
          </a:p>
          <a:p>
            <a:pPr algn="l">
              <a:spcBef>
                <a:spcPts val="200"/>
              </a:spcBef>
              <a:defRPr sz="1200" b="0">
                <a:solidFill>
                  <a:srgbClr val="666666"/>
                </a:solidFill>
                <a:latin typeface="Calibri"/>
              </a:defRPr>
            </a:pPr>
            <a:r>
              <a:rPr dirty="0"/>
              <a:t>Refurbished Solar Home Systems dominate Segment 2 (68.8%) — moderate risk profile.</a:t>
            </a:r>
          </a:p>
          <a:p>
            <a:pPr>
              <a:spcBef>
                <a:spcPts val="400"/>
              </a:spcBef>
              <a:defRPr sz="1200" b="1">
                <a:solidFill>
                  <a:srgbClr val="D32F2F"/>
                </a:solidFill>
                <a:latin typeface="Calibri"/>
              </a:defRPr>
            </a:pPr>
            <a:r>
              <a:rPr dirty="0"/>
              <a:t>Action: Increase down-payment requirements on Water/Smartphone/Tablet</a:t>
            </a:r>
            <a:r>
              <a:rPr lang="en-US" dirty="0"/>
              <a:t>.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Customer Segmentation &amp; Strategic Roadmap</a:t>
            </a:r>
          </a:p>
        </p:txBody>
      </p:sp>
      <p:pic>
        <p:nvPicPr>
          <p:cNvPr id="4" name="Picture 3" descr="segments_profi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11277295" cy="3291840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4572000"/>
          <a:ext cx="11277295" cy="17129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0966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0966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0966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0966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0966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0966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40966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40966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Segment</a:t>
                      </a:r>
                    </a:p>
                  </a:txBody>
                  <a:tcPr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Label</a:t>
                      </a:r>
                    </a:p>
                  </a:txBody>
                  <a:tcPr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Count</a:t>
                      </a:r>
                    </a:p>
                  </a:txBody>
                  <a:tcPr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%</a:t>
                      </a:r>
                    </a:p>
                  </a:txBody>
                  <a:tcPr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Risk</a:t>
                      </a:r>
                    </a:p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Score</a:t>
                      </a:r>
                    </a:p>
                  </a:txBody>
                  <a:tcPr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Default</a:t>
                      </a:r>
                    </a:p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Rate</a:t>
                      </a:r>
                    </a:p>
                  </a:txBody>
                  <a:tcPr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Complete</a:t>
                      </a:r>
                    </a:p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Rate</a:t>
                      </a:r>
                    </a:p>
                  </a:txBody>
                  <a:tcPr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Key</a:t>
                      </a:r>
                    </a:p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Characteristic</a:t>
                      </a:r>
                    </a:p>
                  </a:txBody>
                  <a:tcPr>
                    <a:solidFill>
                      <a:srgbClr val="1B5E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High-Risk Cash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1177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26.2%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1.82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48.9%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CASH, high default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High-Risk PAYG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1179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26.2%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1.89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52.1%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0.0%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PAYG, high default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Refurb Mod.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1376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30.6%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1.39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38.8%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12.0%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Refurbished, mixed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Healthy Comp.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768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17.1%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0.0%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53.4%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Zero risk, completers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Recommended Strategic Actions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11277295" cy="114300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B5E20"/>
                </a:solidFill>
                <a:latin typeface="Calibri"/>
              </a:defRPr>
            </a:pPr>
            <a:r>
              <a:t>STRATEGY 1 — Premium Loan Cross-Sell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Target Segment 3 (Healthy Completers, 768 accounts, 0% default) for zero-risk loans. Target Segment 2 (Refurbished Buyers, 1,376 accounts, 12% complete rate) for graduation programs.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468880"/>
            <a:ext cx="11277295" cy="114300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2514600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B5E20"/>
                </a:solidFill>
                <a:latin typeface="Calibri"/>
              </a:defRPr>
            </a:pPr>
            <a:r>
              <a:t>STRATEGY 2 — Collections Optimization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83464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Deploy weekly risk-scoring via the segmentation model. Tiered outreach: SMS at day-7 → call at day-14 → field visit at day-21. Focus on Segments 0 and 1 (~50% default rate).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749039"/>
            <a:ext cx="11277295" cy="114300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" y="3794759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B5E20"/>
                </a:solidFill>
                <a:latin typeface="Calibri"/>
              </a:defRPr>
            </a:pPr>
            <a:r>
              <a:t>STRATEGY 3 — Product Portfolio Adjustment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11480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Increase minimum deposits on Water Pumps (15.3% write-off), Smartphones (14.9%), and Tablets (14.7%). Pilot hybrid PAYG + deposit model with completion incentives for PAYG Segment 1.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5029200"/>
            <a:ext cx="11277295" cy="114300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" y="5074920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B5E20"/>
                </a:solidFill>
                <a:latin typeface="Calibri"/>
              </a:defRPr>
            </a:pPr>
            <a:r>
              <a:t>STRATEGY 4 — Data-Driven Credit Scoring Roadmap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39496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Pre-behaviour features (region, product, age) reach only 0.55 AUC — insufficient for deployment. Collect 3-6 months of payment history (days-late, payment ratios, seasonality) to unlock 0.70+ AUC. Infrastructure ready: Airflow pipeline, anti-leakage features, PR-optimised thresholds.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6492240"/>
            <a:ext cx="11277295" cy="5486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" y="656539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Calibri"/>
              </a:defRPr>
            </a:pPr>
            <a:r>
              <a:t>Next Steps: Deploy segmentation via BentoML → Weekly Airflow retraining → Collect payment behaviour data → Build 0.70+ AUC credit model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558</Words>
  <Application>Microsoft Macintosh PowerPoint</Application>
  <PresentationFormat>Widescreen</PresentationFormat>
  <Paragraphs>77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Microsoft Office User</cp:lastModifiedBy>
  <cp:revision>2</cp:revision>
  <dcterms:created xsi:type="dcterms:W3CDTF">2013-01-27T09:14:16Z</dcterms:created>
  <dcterms:modified xsi:type="dcterms:W3CDTF">2026-05-24T19:04:19Z</dcterms:modified>
  <cp:category/>
</cp:coreProperties>
</file>